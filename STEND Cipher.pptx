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57" r:id="rId3"/>
    <p:sldId id="258" r:id="rId4"/>
    <p:sldId id="259" r:id="rId5"/>
    <p:sldId id="260" r:id="rId6"/>
    <p:sldId id="262" r:id="rId7"/>
    <p:sldId id="261"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tr-TR"/>
              <a:t>Asıl başlık stilini düzenlemek için tıklayın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2259096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4185982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1033243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1696931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913795" y="2912232"/>
            <a:ext cx="5107208" cy="287896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172200" y="2912232"/>
            <a:ext cx="5095357" cy="287896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4243332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3103536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3562662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tr-TR"/>
              <a:t>Asıl başlık stilini düzenlemek için tıklayın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3923730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3197884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3536589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3376315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CD31F4-64FA-4BA0-9498-67783267A8C8}"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02946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18471110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288174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4040699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30740651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2345051-2045-45DA-935E-2E3CA1A69ADC}" type="datetimeFigureOut">
              <a:rPr lang="en-US" smtClean="0"/>
              <a:t>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1277535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2345051-2045-45DA-935E-2E3CA1A69ADC}" type="datetimeFigureOut">
              <a:rPr lang="en-US" smtClean="0"/>
              <a:t>2/28/2025</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4121137910"/>
      </p:ext>
    </p:extLst>
  </p:cSld>
  <p:clrMap bg1="dk1" tx1="lt1" bg2="dk2" tx2="lt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Renklendirilmiş ışık kullanılan fotoğraf efektleri">
            <a:extLst>
              <a:ext uri="{FF2B5EF4-FFF2-40B4-BE49-F238E27FC236}">
                <a16:creationId xmlns:a16="http://schemas.microsoft.com/office/drawing/2014/main" id="{CFC2521D-C9D6-373C-7375-63F479ECFB98}"/>
              </a:ext>
            </a:extLst>
          </p:cNvPr>
          <p:cNvPicPr>
            <a:picLocks noChangeAspect="1"/>
          </p:cNvPicPr>
          <p:nvPr/>
        </p:nvPicPr>
        <p:blipFill>
          <a:blip r:embed="rId2">
            <a:alphaModFix amt="50000"/>
          </a:blip>
          <a:srcRect t="1990" b="13740"/>
          <a:stretch/>
        </p:blipFill>
        <p:spPr>
          <a:xfrm>
            <a:off x="20" y="10"/>
            <a:ext cx="12191979" cy="6857990"/>
          </a:xfrm>
          <a:prstGeom prst="rect">
            <a:avLst/>
          </a:prstGeom>
        </p:spPr>
      </p:pic>
      <p:sp>
        <p:nvSpPr>
          <p:cNvPr id="2" name="Başlık 1">
            <a:extLst>
              <a:ext uri="{FF2B5EF4-FFF2-40B4-BE49-F238E27FC236}">
                <a16:creationId xmlns:a16="http://schemas.microsoft.com/office/drawing/2014/main" id="{FEE9CB43-3A09-EE97-C24D-092ABD274725}"/>
              </a:ext>
            </a:extLst>
          </p:cNvPr>
          <p:cNvSpPr>
            <a:spLocks noGrp="1"/>
          </p:cNvSpPr>
          <p:nvPr>
            <p:ph type="ctrTitle"/>
          </p:nvPr>
        </p:nvSpPr>
        <p:spPr>
          <a:xfrm>
            <a:off x="2066925" y="1731762"/>
            <a:ext cx="8058150" cy="2453841"/>
          </a:xfrm>
        </p:spPr>
        <p:txBody>
          <a:bodyPr>
            <a:normAutofit fontScale="90000"/>
          </a:bodyPr>
          <a:lstStyle/>
          <a:p>
            <a:pPr algn="ctr"/>
            <a:r>
              <a:rPr lang="tr-TR" sz="8800" dirty="0"/>
              <a:t>STEND CIPHER</a:t>
            </a:r>
          </a:p>
        </p:txBody>
      </p:sp>
      <p:sp>
        <p:nvSpPr>
          <p:cNvPr id="3" name="Alt Başlık 2">
            <a:extLst>
              <a:ext uri="{FF2B5EF4-FFF2-40B4-BE49-F238E27FC236}">
                <a16:creationId xmlns:a16="http://schemas.microsoft.com/office/drawing/2014/main" id="{0A25078B-1637-B09E-4683-70AEFE2AFA2E}"/>
              </a:ext>
            </a:extLst>
          </p:cNvPr>
          <p:cNvSpPr>
            <a:spLocks noGrp="1"/>
          </p:cNvSpPr>
          <p:nvPr>
            <p:ph type="subTitle" idx="1"/>
          </p:nvPr>
        </p:nvSpPr>
        <p:spPr>
          <a:xfrm>
            <a:off x="3228975" y="4599432"/>
            <a:ext cx="5734051" cy="934593"/>
          </a:xfrm>
        </p:spPr>
        <p:txBody>
          <a:bodyPr>
            <a:normAutofit/>
          </a:bodyPr>
          <a:lstStyle/>
          <a:p>
            <a:pPr algn="ctr"/>
            <a:r>
              <a:rPr lang="tr-TR" sz="3200" dirty="0" err="1"/>
              <a:t>By</a:t>
            </a:r>
            <a:r>
              <a:rPr lang="tr-TR" sz="3200" dirty="0"/>
              <a:t> Ahmed Dillo</a:t>
            </a:r>
          </a:p>
        </p:txBody>
      </p:sp>
    </p:spTree>
    <p:extLst>
      <p:ext uri="{BB962C8B-B14F-4D97-AF65-F5344CB8AC3E}">
        <p14:creationId xmlns:p14="http://schemas.microsoft.com/office/powerpoint/2010/main" val="38730365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62BF05-4D39-4A21-597D-6261DB5B4E1A}"/>
              </a:ext>
            </a:extLst>
          </p:cNvPr>
          <p:cNvSpPr>
            <a:spLocks noGrp="1"/>
          </p:cNvSpPr>
          <p:nvPr>
            <p:ph type="title"/>
          </p:nvPr>
        </p:nvSpPr>
        <p:spPr/>
        <p:txBody>
          <a:bodyPr/>
          <a:lstStyle/>
          <a:p>
            <a:r>
              <a:rPr lang="tr-TR" dirty="0"/>
              <a:t>1) </a:t>
            </a:r>
            <a:r>
              <a:rPr lang="tr-TR" dirty="0" err="1"/>
              <a:t>Introduction</a:t>
            </a:r>
            <a:endParaRPr lang="tr-TR" dirty="0"/>
          </a:p>
        </p:txBody>
      </p:sp>
      <p:sp>
        <p:nvSpPr>
          <p:cNvPr id="3" name="İçerik Yer Tutucusu 2">
            <a:extLst>
              <a:ext uri="{FF2B5EF4-FFF2-40B4-BE49-F238E27FC236}">
                <a16:creationId xmlns:a16="http://schemas.microsoft.com/office/drawing/2014/main" id="{4DBCC2EE-0FEE-4132-CD94-FE70D9A785BD}"/>
              </a:ext>
            </a:extLst>
          </p:cNvPr>
          <p:cNvSpPr>
            <a:spLocks noGrp="1"/>
          </p:cNvSpPr>
          <p:nvPr>
            <p:ph idx="1"/>
          </p:nvPr>
        </p:nvSpPr>
        <p:spPr>
          <a:xfrm>
            <a:off x="913795" y="2096064"/>
            <a:ext cx="5939289" cy="3695136"/>
          </a:xfrm>
        </p:spPr>
        <p:txBody>
          <a:bodyPr/>
          <a:lstStyle/>
          <a:p>
            <a:r>
              <a:rPr lang="tr-TR" dirty="0" err="1"/>
              <a:t>The</a:t>
            </a:r>
            <a:r>
              <a:rPr lang="tr-TR" dirty="0"/>
              <a:t> </a:t>
            </a:r>
            <a:r>
              <a:rPr lang="tr-TR" dirty="0" err="1"/>
              <a:t>Cipher</a:t>
            </a:r>
            <a:r>
              <a:rPr lang="tr-TR" dirty="0"/>
              <a:t> is a </a:t>
            </a:r>
            <a:r>
              <a:rPr lang="tr-TR" dirty="0" err="1"/>
              <a:t>fundamental</a:t>
            </a:r>
            <a:r>
              <a:rPr lang="tr-TR" dirty="0"/>
              <a:t> </a:t>
            </a:r>
            <a:r>
              <a:rPr lang="tr-TR" dirty="0" err="1"/>
              <a:t>component</a:t>
            </a:r>
            <a:r>
              <a:rPr lang="tr-TR" dirty="0"/>
              <a:t> of </a:t>
            </a:r>
            <a:r>
              <a:rPr lang="tr-TR" dirty="0" err="1"/>
              <a:t>hybrid</a:t>
            </a:r>
            <a:r>
              <a:rPr lang="tr-TR" dirty="0"/>
              <a:t> </a:t>
            </a:r>
            <a:r>
              <a:rPr lang="tr-TR" dirty="0" err="1"/>
              <a:t>cybersecurity</a:t>
            </a:r>
            <a:r>
              <a:rPr lang="tr-TR" dirty="0"/>
              <a:t>, </a:t>
            </a:r>
            <a:r>
              <a:rPr lang="en-US" dirty="0"/>
              <a:t>ensuring data confidentiality and protection against unauthorized access.</a:t>
            </a:r>
            <a:endParaRPr lang="tr-TR" dirty="0"/>
          </a:p>
          <a:p>
            <a:r>
              <a:rPr lang="tr-TR" dirty="0"/>
              <a:t>STEND</a:t>
            </a:r>
            <a:r>
              <a:rPr lang="en-US" dirty="0"/>
              <a:t> cipher is designed to provide a secure and efficient method for encrypting sensitive information while maintaining a spatial substitution table and specific encryption methods.</a:t>
            </a:r>
            <a:endParaRPr lang="tr-TR" dirty="0"/>
          </a:p>
        </p:txBody>
      </p:sp>
      <p:pic>
        <p:nvPicPr>
          <p:cNvPr id="6" name="Resim 5" descr="logo, kırpıntı çizim, simge, sembol, grafik içeren bir resim&#10;&#10;Yapay zeka tarafından oluşturulan içerik yanlış olabilir.">
            <a:extLst>
              <a:ext uri="{FF2B5EF4-FFF2-40B4-BE49-F238E27FC236}">
                <a16:creationId xmlns:a16="http://schemas.microsoft.com/office/drawing/2014/main" id="{C6692154-890F-38CE-2835-BAE95AFB1E25}"/>
              </a:ext>
            </a:extLst>
          </p:cNvPr>
          <p:cNvPicPr>
            <a:picLocks noChangeAspect="1"/>
          </p:cNvPicPr>
          <p:nvPr/>
        </p:nvPicPr>
        <p:blipFill>
          <a:blip r:embed="rId2">
            <a:extLst>
              <a:ext uri="{28A0092B-C50C-407E-A947-70E740481C1C}">
                <a14:useLocalDpi xmlns:a14="http://schemas.microsoft.com/office/drawing/2010/main" val="0"/>
              </a:ext>
            </a:extLst>
          </a:blip>
          <a:srcRect l="18544" t="15262" r="17957" b="20366"/>
          <a:stretch/>
        </p:blipFill>
        <p:spPr>
          <a:xfrm>
            <a:off x="8416637" y="2327564"/>
            <a:ext cx="3023754" cy="3065318"/>
          </a:xfrm>
          <a:prstGeom prst="rect">
            <a:avLst/>
          </a:prstGeom>
        </p:spPr>
      </p:pic>
    </p:spTree>
    <p:extLst>
      <p:ext uri="{BB962C8B-B14F-4D97-AF65-F5344CB8AC3E}">
        <p14:creationId xmlns:p14="http://schemas.microsoft.com/office/powerpoint/2010/main" val="3406473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A10BCF-4A80-53CB-1C54-74371B0EDEB2}"/>
              </a:ext>
            </a:extLst>
          </p:cNvPr>
          <p:cNvSpPr>
            <a:spLocks noGrp="1"/>
          </p:cNvSpPr>
          <p:nvPr>
            <p:ph type="title"/>
          </p:nvPr>
        </p:nvSpPr>
        <p:spPr/>
        <p:txBody>
          <a:bodyPr/>
          <a:lstStyle/>
          <a:p>
            <a:r>
              <a:rPr lang="tr-TR" dirty="0"/>
              <a:t>2) </a:t>
            </a:r>
            <a:r>
              <a:rPr lang="tr-TR" dirty="0" err="1"/>
              <a:t>Algorithm</a:t>
            </a:r>
            <a:r>
              <a:rPr lang="tr-TR" dirty="0"/>
              <a:t> </a:t>
            </a:r>
            <a:r>
              <a:rPr lang="tr-TR" dirty="0" err="1"/>
              <a:t>Overview</a:t>
            </a:r>
            <a:endParaRPr lang="tr-TR" dirty="0"/>
          </a:p>
        </p:txBody>
      </p:sp>
      <p:sp>
        <p:nvSpPr>
          <p:cNvPr id="3" name="İçerik Yer Tutucusu 2">
            <a:extLst>
              <a:ext uri="{FF2B5EF4-FFF2-40B4-BE49-F238E27FC236}">
                <a16:creationId xmlns:a16="http://schemas.microsoft.com/office/drawing/2014/main" id="{0266CDA9-3FA4-24C9-3C39-8DCBFEAF4DBE}"/>
              </a:ext>
            </a:extLst>
          </p:cNvPr>
          <p:cNvSpPr>
            <a:spLocks noGrp="1"/>
          </p:cNvSpPr>
          <p:nvPr>
            <p:ph idx="1"/>
          </p:nvPr>
        </p:nvSpPr>
        <p:spPr>
          <a:xfrm>
            <a:off x="913795" y="2096064"/>
            <a:ext cx="10353762" cy="4152336"/>
          </a:xfrm>
        </p:spPr>
        <p:txBody>
          <a:bodyPr>
            <a:normAutofit lnSpcReduction="10000"/>
          </a:bodyPr>
          <a:lstStyle/>
          <a:p>
            <a:r>
              <a:rPr lang="en-US" dirty="0"/>
              <a:t>This algorithm falls under the category of </a:t>
            </a:r>
            <a:r>
              <a:rPr lang="tr-TR" dirty="0" err="1"/>
              <a:t>non-asymmetric</a:t>
            </a:r>
            <a:r>
              <a:rPr lang="en-US" b="1" dirty="0"/>
              <a:t> </a:t>
            </a:r>
            <a:r>
              <a:rPr lang="en-US" dirty="0"/>
              <a:t>encryption.</a:t>
            </a:r>
            <a:br>
              <a:rPr lang="tr-TR" dirty="0"/>
            </a:br>
            <a:r>
              <a:rPr lang="tr-TR" dirty="0" err="1"/>
              <a:t>We</a:t>
            </a:r>
            <a:r>
              <a:rPr lang="tr-TR" dirty="0"/>
              <a:t> </a:t>
            </a:r>
            <a:r>
              <a:rPr lang="tr-TR" dirty="0" err="1"/>
              <a:t>have</a:t>
            </a:r>
            <a:r>
              <a:rPr lang="tr-TR" dirty="0"/>
              <a:t> </a:t>
            </a:r>
            <a:r>
              <a:rPr lang="tr-TR" dirty="0" err="1"/>
              <a:t>both</a:t>
            </a:r>
            <a:r>
              <a:rPr lang="tr-TR" dirty="0"/>
              <a:t> of </a:t>
            </a:r>
            <a:r>
              <a:rPr lang="tr-TR" dirty="0" err="1"/>
              <a:t>keys</a:t>
            </a:r>
            <a:r>
              <a:rPr lang="tr-TR" dirty="0"/>
              <a:t> </a:t>
            </a:r>
            <a:r>
              <a:rPr lang="tr-TR" dirty="0" err="1"/>
              <a:t>and</a:t>
            </a:r>
            <a:r>
              <a:rPr lang="tr-TR" dirty="0"/>
              <a:t> </a:t>
            </a:r>
            <a:r>
              <a:rPr lang="tr-TR" dirty="0" err="1"/>
              <a:t>the</a:t>
            </a:r>
            <a:r>
              <a:rPr lang="tr-TR" dirty="0"/>
              <a:t> </a:t>
            </a:r>
            <a:r>
              <a:rPr lang="tr-TR" dirty="0" err="1"/>
              <a:t>both</a:t>
            </a:r>
            <a:r>
              <a:rPr lang="tr-TR" dirty="0"/>
              <a:t> of </a:t>
            </a:r>
            <a:r>
              <a:rPr lang="tr-TR" dirty="0" err="1"/>
              <a:t>them</a:t>
            </a:r>
            <a:r>
              <a:rPr lang="tr-TR" dirty="0"/>
              <a:t> </a:t>
            </a:r>
            <a:r>
              <a:rPr lang="tr-TR" dirty="0" err="1"/>
              <a:t>are</a:t>
            </a:r>
            <a:r>
              <a:rPr lang="tr-TR" dirty="0"/>
              <a:t> </a:t>
            </a:r>
            <a:r>
              <a:rPr lang="tr-TR" dirty="0" err="1"/>
              <a:t>private</a:t>
            </a:r>
            <a:r>
              <a:rPr lang="tr-TR" dirty="0"/>
              <a:t>. Set </a:t>
            </a:r>
            <a:r>
              <a:rPr lang="tr-TR" dirty="0" err="1"/>
              <a:t>by</a:t>
            </a:r>
            <a:r>
              <a:rPr lang="tr-TR" dirty="0"/>
              <a:t> </a:t>
            </a:r>
            <a:r>
              <a:rPr lang="tr-TR" dirty="0" err="1"/>
              <a:t>the</a:t>
            </a:r>
            <a:r>
              <a:rPr lang="tr-TR" dirty="0"/>
              <a:t> </a:t>
            </a:r>
            <a:r>
              <a:rPr lang="tr-TR" dirty="0" err="1"/>
              <a:t>user</a:t>
            </a:r>
            <a:r>
              <a:rPr lang="tr-TR" dirty="0"/>
              <a:t>.</a:t>
            </a:r>
          </a:p>
          <a:p>
            <a:r>
              <a:rPr lang="en-US" dirty="0"/>
              <a:t>To process the message that is to be encrypted, we first need to transmit it into my special substitution table (Xavi Table). Then, the algorithm will process its corresponding numerical values and mix the keys sequentially.</a:t>
            </a:r>
            <a:endParaRPr lang="tr-TR" dirty="0"/>
          </a:p>
          <a:p>
            <a:r>
              <a:rPr lang="en-US" dirty="0"/>
              <a:t>The key mixing will be processed using the "collection operation." The "exponentiation operation" was attempted, but I encountered extremely large numbers, which could potentially be infinite and difficult to decrypt.</a:t>
            </a:r>
            <a:endParaRPr lang="tr-TR" dirty="0"/>
          </a:p>
          <a:p>
            <a:r>
              <a:rPr lang="en-US" dirty="0"/>
              <a:t>This cipher is designed for encrypting words and can be considered a hybrid algorithm, as it features a unique substitution table and shares similarities with the Vigenère cipher.</a:t>
            </a:r>
            <a:endParaRPr lang="tr-TR" dirty="0"/>
          </a:p>
        </p:txBody>
      </p:sp>
    </p:spTree>
    <p:extLst>
      <p:ext uri="{BB962C8B-B14F-4D97-AF65-F5344CB8AC3E}">
        <p14:creationId xmlns:p14="http://schemas.microsoft.com/office/powerpoint/2010/main" val="132542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7C67301-D905-C5CB-1C6F-17FD5461856D}"/>
              </a:ext>
            </a:extLst>
          </p:cNvPr>
          <p:cNvSpPr>
            <a:spLocks noGrp="1"/>
          </p:cNvSpPr>
          <p:nvPr>
            <p:ph type="title"/>
          </p:nvPr>
        </p:nvSpPr>
        <p:spPr/>
        <p:txBody>
          <a:bodyPr/>
          <a:lstStyle/>
          <a:p>
            <a:r>
              <a:rPr lang="tr-TR" dirty="0"/>
              <a:t>3) </a:t>
            </a:r>
            <a:r>
              <a:rPr lang="tr-TR" dirty="0" err="1"/>
              <a:t>The</a:t>
            </a:r>
            <a:r>
              <a:rPr lang="tr-TR" dirty="0"/>
              <a:t> </a:t>
            </a:r>
            <a:r>
              <a:rPr lang="tr-TR" dirty="0" err="1"/>
              <a:t>Encryption</a:t>
            </a:r>
            <a:endParaRPr lang="tr-TR" dirty="0"/>
          </a:p>
        </p:txBody>
      </p:sp>
      <p:sp>
        <p:nvSpPr>
          <p:cNvPr id="3" name="İçerik Yer Tutucusu 2">
            <a:extLst>
              <a:ext uri="{FF2B5EF4-FFF2-40B4-BE49-F238E27FC236}">
                <a16:creationId xmlns:a16="http://schemas.microsoft.com/office/drawing/2014/main" id="{EE0582E3-4771-42F5-CA56-CB8329177B35}"/>
              </a:ext>
            </a:extLst>
          </p:cNvPr>
          <p:cNvSpPr>
            <a:spLocks noGrp="1"/>
          </p:cNvSpPr>
          <p:nvPr>
            <p:ph idx="1"/>
          </p:nvPr>
        </p:nvSpPr>
        <p:spPr/>
        <p:txBody>
          <a:bodyPr/>
          <a:lstStyle/>
          <a:p>
            <a:r>
              <a:rPr lang="tr-TR" dirty="0"/>
              <a:t>1) </a:t>
            </a:r>
            <a:r>
              <a:rPr lang="en-US" dirty="0"/>
              <a:t>The first step we need to take is to write the values of the message we want to encrypt into the "Xavi table" that I specially prepared (Note: uppercase letters will be converted to lowercase when encrypted in this cipher!).</a:t>
            </a:r>
            <a:endParaRPr lang="tr-TR" dirty="0"/>
          </a:p>
        </p:txBody>
      </p:sp>
    </p:spTree>
    <p:extLst>
      <p:ext uri="{BB962C8B-B14F-4D97-AF65-F5344CB8AC3E}">
        <p14:creationId xmlns:p14="http://schemas.microsoft.com/office/powerpoint/2010/main" val="1751769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C18C833-1786-0DCB-B957-3AB279D9CFA2}"/>
              </a:ext>
            </a:extLst>
          </p:cNvPr>
          <p:cNvSpPr>
            <a:spLocks noGrp="1"/>
          </p:cNvSpPr>
          <p:nvPr>
            <p:ph type="title"/>
          </p:nvPr>
        </p:nvSpPr>
        <p:spPr/>
        <p:txBody>
          <a:bodyPr/>
          <a:lstStyle/>
          <a:p>
            <a:r>
              <a:rPr lang="tr-TR" dirty="0" err="1"/>
              <a:t>Xavi</a:t>
            </a:r>
            <a:r>
              <a:rPr lang="tr-TR" dirty="0"/>
              <a:t> </a:t>
            </a:r>
            <a:r>
              <a:rPr lang="tr-TR" dirty="0" err="1"/>
              <a:t>Substitution</a:t>
            </a:r>
            <a:r>
              <a:rPr lang="tr-TR" dirty="0"/>
              <a:t> </a:t>
            </a:r>
            <a:r>
              <a:rPr lang="tr-TR" dirty="0" err="1"/>
              <a:t>Table</a:t>
            </a:r>
            <a:r>
              <a:rPr lang="tr-TR" dirty="0"/>
              <a:t>:</a:t>
            </a:r>
          </a:p>
        </p:txBody>
      </p:sp>
      <p:pic>
        <p:nvPicPr>
          <p:cNvPr id="5" name="İçerik Yer Tutucusu 4">
            <a:extLst>
              <a:ext uri="{FF2B5EF4-FFF2-40B4-BE49-F238E27FC236}">
                <a16:creationId xmlns:a16="http://schemas.microsoft.com/office/drawing/2014/main" id="{99A13042-DCBF-804A-32D7-F9954CE49B2E}"/>
              </a:ext>
            </a:extLst>
          </p:cNvPr>
          <p:cNvPicPr>
            <a:picLocks noGrp="1" noChangeAspect="1"/>
          </p:cNvPicPr>
          <p:nvPr>
            <p:ph idx="1"/>
          </p:nvPr>
        </p:nvPicPr>
        <p:blipFill>
          <a:blip r:embed="rId2"/>
          <a:stretch>
            <a:fillRect/>
          </a:stretch>
        </p:blipFill>
        <p:spPr>
          <a:xfrm>
            <a:off x="3274352" y="2095500"/>
            <a:ext cx="5633770" cy="3695700"/>
          </a:xfrm>
        </p:spPr>
      </p:pic>
    </p:spTree>
    <p:extLst>
      <p:ext uri="{BB962C8B-B14F-4D97-AF65-F5344CB8AC3E}">
        <p14:creationId xmlns:p14="http://schemas.microsoft.com/office/powerpoint/2010/main" val="656983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6234FA2-FD2C-1F92-D1DB-925FB0EBBD74}"/>
              </a:ext>
            </a:extLst>
          </p:cNvPr>
          <p:cNvSpPr>
            <a:spLocks noGrp="1"/>
          </p:cNvSpPr>
          <p:nvPr>
            <p:ph type="title"/>
          </p:nvPr>
        </p:nvSpPr>
        <p:spPr/>
        <p:txBody>
          <a:bodyPr/>
          <a:lstStyle/>
          <a:p>
            <a:r>
              <a:rPr lang="tr-TR" dirty="0" err="1"/>
              <a:t>Key</a:t>
            </a:r>
            <a:r>
              <a:rPr lang="tr-TR" dirty="0"/>
              <a:t> </a:t>
            </a:r>
            <a:r>
              <a:rPr lang="tr-TR" dirty="0" err="1"/>
              <a:t>Mixing</a:t>
            </a:r>
            <a:r>
              <a:rPr lang="tr-TR" dirty="0"/>
              <a:t>:</a:t>
            </a:r>
          </a:p>
        </p:txBody>
      </p:sp>
      <p:sp>
        <p:nvSpPr>
          <p:cNvPr id="3" name="İçerik Yer Tutucusu 2">
            <a:extLst>
              <a:ext uri="{FF2B5EF4-FFF2-40B4-BE49-F238E27FC236}">
                <a16:creationId xmlns:a16="http://schemas.microsoft.com/office/drawing/2014/main" id="{2D3D12A9-D5CF-E9C8-DDFE-87DB79107526}"/>
              </a:ext>
            </a:extLst>
          </p:cNvPr>
          <p:cNvSpPr>
            <a:spLocks noGrp="1"/>
          </p:cNvSpPr>
          <p:nvPr>
            <p:ph idx="1"/>
          </p:nvPr>
        </p:nvSpPr>
        <p:spPr/>
        <p:txBody>
          <a:bodyPr/>
          <a:lstStyle/>
          <a:p>
            <a:r>
              <a:rPr lang="en-US" dirty="0"/>
              <a:t>We mix the plaintext with the first key, which can be set by the user. Alternatively, a future version of the program will be able to suggest a large key (at least as long as the plaintext).</a:t>
            </a:r>
            <a:endParaRPr lang="tr-TR" dirty="0"/>
          </a:p>
          <a:p>
            <a:r>
              <a:rPr lang="en-US" dirty="0"/>
              <a:t>Then, we mix the second key with the result of the previous operation.</a:t>
            </a:r>
            <a:endParaRPr lang="tr-TR" dirty="0"/>
          </a:p>
          <a:p>
            <a:r>
              <a:rPr lang="en-US" dirty="0"/>
              <a:t>It is preferred for the keys to be large prime numbers, but non-prime numbers can also be used.</a:t>
            </a:r>
            <a:endParaRPr lang="tr-TR" dirty="0"/>
          </a:p>
        </p:txBody>
      </p:sp>
    </p:spTree>
    <p:extLst>
      <p:ext uri="{BB962C8B-B14F-4D97-AF65-F5344CB8AC3E}">
        <p14:creationId xmlns:p14="http://schemas.microsoft.com/office/powerpoint/2010/main" val="3350601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0D02A52-9C1C-6D58-90FB-5A492337424B}"/>
              </a:ext>
            </a:extLst>
          </p:cNvPr>
          <p:cNvSpPr>
            <a:spLocks noGrp="1"/>
          </p:cNvSpPr>
          <p:nvPr>
            <p:ph type="title"/>
          </p:nvPr>
        </p:nvSpPr>
        <p:spPr/>
        <p:txBody>
          <a:bodyPr/>
          <a:lstStyle/>
          <a:p>
            <a:r>
              <a:rPr lang="tr-TR" dirty="0" err="1"/>
              <a:t>The</a:t>
            </a:r>
            <a:r>
              <a:rPr lang="tr-TR" dirty="0"/>
              <a:t> </a:t>
            </a:r>
            <a:r>
              <a:rPr lang="tr-TR" dirty="0" err="1"/>
              <a:t>Appearness</a:t>
            </a:r>
            <a:r>
              <a:rPr lang="tr-TR" dirty="0"/>
              <a:t> of </a:t>
            </a:r>
            <a:r>
              <a:rPr lang="tr-TR" dirty="0" err="1"/>
              <a:t>Encryption</a:t>
            </a:r>
            <a:r>
              <a:rPr lang="tr-TR" dirty="0"/>
              <a:t>:</a:t>
            </a:r>
          </a:p>
        </p:txBody>
      </p:sp>
      <p:pic>
        <p:nvPicPr>
          <p:cNvPr id="9" name="İçerik Yer Tutucusu 8">
            <a:extLst>
              <a:ext uri="{FF2B5EF4-FFF2-40B4-BE49-F238E27FC236}">
                <a16:creationId xmlns:a16="http://schemas.microsoft.com/office/drawing/2014/main" id="{7142FAE0-817E-AA0F-0239-56F5BE164ADD}"/>
              </a:ext>
            </a:extLst>
          </p:cNvPr>
          <p:cNvPicPr>
            <a:picLocks noGrp="1" noChangeAspect="1"/>
          </p:cNvPicPr>
          <p:nvPr>
            <p:ph idx="1"/>
          </p:nvPr>
        </p:nvPicPr>
        <p:blipFill>
          <a:blip r:embed="rId2"/>
          <a:stretch>
            <a:fillRect/>
          </a:stretch>
        </p:blipFill>
        <p:spPr>
          <a:xfrm>
            <a:off x="559329" y="1550670"/>
            <a:ext cx="11073341" cy="4586098"/>
          </a:xfrm>
        </p:spPr>
      </p:pic>
      <p:sp>
        <p:nvSpPr>
          <p:cNvPr id="10" name="Metin kutusu 9">
            <a:extLst>
              <a:ext uri="{FF2B5EF4-FFF2-40B4-BE49-F238E27FC236}">
                <a16:creationId xmlns:a16="http://schemas.microsoft.com/office/drawing/2014/main" id="{0CD029A6-FCF4-61DF-630B-B509418B2EE5}"/>
              </a:ext>
            </a:extLst>
          </p:cNvPr>
          <p:cNvSpPr txBox="1"/>
          <p:nvPr/>
        </p:nvSpPr>
        <p:spPr>
          <a:xfrm>
            <a:off x="1127760" y="6136768"/>
            <a:ext cx="9024458" cy="369332"/>
          </a:xfrm>
          <a:prstGeom prst="rect">
            <a:avLst/>
          </a:prstGeom>
          <a:noFill/>
        </p:spPr>
        <p:txBody>
          <a:bodyPr wrap="none" rtlCol="0">
            <a:spAutoFit/>
          </a:bodyPr>
          <a:lstStyle/>
          <a:p>
            <a:r>
              <a:rPr lang="tr-TR" dirty="0"/>
              <a:t>İn </a:t>
            </a:r>
            <a:r>
              <a:rPr lang="tr-TR" dirty="0" err="1"/>
              <a:t>this</a:t>
            </a:r>
            <a:r>
              <a:rPr lang="tr-TR" dirty="0"/>
              <a:t> </a:t>
            </a:r>
            <a:r>
              <a:rPr lang="tr-TR" dirty="0" err="1"/>
              <a:t>example</a:t>
            </a:r>
            <a:r>
              <a:rPr lang="tr-TR" dirty="0"/>
              <a:t> </a:t>
            </a:r>
            <a:r>
              <a:rPr lang="tr-TR" dirty="0" err="1"/>
              <a:t>we</a:t>
            </a:r>
            <a:r>
              <a:rPr lang="tr-TR" dirty="0"/>
              <a:t> </a:t>
            </a:r>
            <a:r>
              <a:rPr lang="tr-TR" dirty="0" err="1"/>
              <a:t>encrypted</a:t>
            </a:r>
            <a:r>
              <a:rPr lang="tr-TR" dirty="0"/>
              <a:t> «</a:t>
            </a:r>
            <a:r>
              <a:rPr lang="tr-TR" dirty="0" err="1"/>
              <a:t>hello</a:t>
            </a:r>
            <a:r>
              <a:rPr lang="tr-TR" dirty="0"/>
              <a:t>» </a:t>
            </a:r>
            <a:r>
              <a:rPr lang="tr-TR" dirty="0" err="1"/>
              <a:t>word</a:t>
            </a:r>
            <a:r>
              <a:rPr lang="tr-TR" dirty="0"/>
              <a:t>, </a:t>
            </a:r>
            <a:r>
              <a:rPr lang="tr-TR" dirty="0" err="1"/>
              <a:t>or</a:t>
            </a:r>
            <a:r>
              <a:rPr lang="tr-TR" dirty="0"/>
              <a:t> </a:t>
            </a:r>
            <a:r>
              <a:rPr lang="tr-TR" dirty="0" err="1"/>
              <a:t>with</a:t>
            </a:r>
            <a:r>
              <a:rPr lang="tr-TR" dirty="0"/>
              <a:t> </a:t>
            </a:r>
            <a:r>
              <a:rPr lang="tr-TR" dirty="0" err="1"/>
              <a:t>its</a:t>
            </a:r>
            <a:r>
              <a:rPr lang="tr-TR" dirty="0"/>
              <a:t> </a:t>
            </a:r>
            <a:r>
              <a:rPr lang="tr-TR" dirty="0" err="1"/>
              <a:t>xavi</a:t>
            </a:r>
            <a:r>
              <a:rPr lang="tr-TR" dirty="0"/>
              <a:t> </a:t>
            </a:r>
            <a:r>
              <a:rPr lang="tr-TR" dirty="0" err="1"/>
              <a:t>table</a:t>
            </a:r>
            <a:r>
              <a:rPr lang="tr-TR" dirty="0"/>
              <a:t> </a:t>
            </a:r>
            <a:r>
              <a:rPr lang="tr-TR" dirty="0" err="1"/>
              <a:t>value</a:t>
            </a:r>
            <a:r>
              <a:rPr lang="tr-TR" dirty="0"/>
              <a:t>=5002909030</a:t>
            </a:r>
          </a:p>
        </p:txBody>
      </p:sp>
    </p:spTree>
    <p:extLst>
      <p:ext uri="{BB962C8B-B14F-4D97-AF65-F5344CB8AC3E}">
        <p14:creationId xmlns:p14="http://schemas.microsoft.com/office/powerpoint/2010/main" val="1350421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1C1B49E-B8C2-931A-0DB2-CDDAA6A425F2}"/>
              </a:ext>
            </a:extLst>
          </p:cNvPr>
          <p:cNvSpPr>
            <a:spLocks noGrp="1"/>
          </p:cNvSpPr>
          <p:nvPr>
            <p:ph type="title"/>
          </p:nvPr>
        </p:nvSpPr>
        <p:spPr/>
        <p:txBody>
          <a:bodyPr/>
          <a:lstStyle/>
          <a:p>
            <a:r>
              <a:rPr lang="tr-TR" dirty="0"/>
              <a:t>4) </a:t>
            </a:r>
            <a:r>
              <a:rPr lang="tr-TR" dirty="0" err="1"/>
              <a:t>The</a:t>
            </a:r>
            <a:r>
              <a:rPr lang="tr-TR" dirty="0"/>
              <a:t> </a:t>
            </a:r>
            <a:r>
              <a:rPr lang="tr-TR" dirty="0" err="1"/>
              <a:t>Decryption</a:t>
            </a:r>
            <a:endParaRPr lang="tr-TR" dirty="0"/>
          </a:p>
        </p:txBody>
      </p:sp>
      <p:sp>
        <p:nvSpPr>
          <p:cNvPr id="3" name="İçerik Yer Tutucusu 2">
            <a:extLst>
              <a:ext uri="{FF2B5EF4-FFF2-40B4-BE49-F238E27FC236}">
                <a16:creationId xmlns:a16="http://schemas.microsoft.com/office/drawing/2014/main" id="{949225A6-A9AC-F0A2-0562-6E7AAF770B02}"/>
              </a:ext>
            </a:extLst>
          </p:cNvPr>
          <p:cNvSpPr>
            <a:spLocks noGrp="1"/>
          </p:cNvSpPr>
          <p:nvPr>
            <p:ph idx="1"/>
          </p:nvPr>
        </p:nvSpPr>
        <p:spPr/>
        <p:txBody>
          <a:bodyPr/>
          <a:lstStyle/>
          <a:p>
            <a:r>
              <a:rPr lang="en-US" dirty="0"/>
              <a:t>To decrypt the ciphertext, we first subtract Key 2 from it. Then, we subtract Key 1 from the result obtained in the previous step.</a:t>
            </a:r>
            <a:endParaRPr lang="tr-TR" dirty="0"/>
          </a:p>
          <a:p>
            <a:r>
              <a:rPr lang="en-US" dirty="0"/>
              <a:t>After these operations, the final numerical output can be converted back into readable text using the Xavi Table, ensuring the original message is accurately reconstructed.</a:t>
            </a:r>
            <a:endParaRPr lang="tr-TR" dirty="0"/>
          </a:p>
        </p:txBody>
      </p:sp>
    </p:spTree>
    <p:extLst>
      <p:ext uri="{BB962C8B-B14F-4D97-AF65-F5344CB8AC3E}">
        <p14:creationId xmlns:p14="http://schemas.microsoft.com/office/powerpoint/2010/main" val="3703417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830EF261-5CFB-8817-4B90-BB20F4A9F594}"/>
              </a:ext>
            </a:extLst>
          </p:cNvPr>
          <p:cNvPicPr>
            <a:picLocks noGrp="1" noChangeAspect="1"/>
          </p:cNvPicPr>
          <p:nvPr>
            <p:ph idx="1"/>
          </p:nvPr>
        </p:nvPicPr>
        <p:blipFill>
          <a:blip r:embed="rId2"/>
          <a:stretch>
            <a:fillRect/>
          </a:stretch>
        </p:blipFill>
        <p:spPr>
          <a:xfrm>
            <a:off x="526891" y="674083"/>
            <a:ext cx="11138217" cy="5996710"/>
          </a:xfrm>
        </p:spPr>
      </p:pic>
    </p:spTree>
    <p:extLst>
      <p:ext uri="{BB962C8B-B14F-4D97-AF65-F5344CB8AC3E}">
        <p14:creationId xmlns:p14="http://schemas.microsoft.com/office/powerpoint/2010/main" val="2760425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CA5862D-1FCB-87F5-DBDF-2F3EB51F8516}"/>
              </a:ext>
            </a:extLst>
          </p:cNvPr>
          <p:cNvSpPr>
            <a:spLocks noGrp="1"/>
          </p:cNvSpPr>
          <p:nvPr>
            <p:ph type="title"/>
          </p:nvPr>
        </p:nvSpPr>
        <p:spPr/>
        <p:txBody>
          <a:bodyPr/>
          <a:lstStyle/>
          <a:p>
            <a:r>
              <a:rPr lang="tr-TR" dirty="0"/>
              <a:t>Final </a:t>
            </a:r>
            <a:r>
              <a:rPr lang="tr-TR" dirty="0" err="1"/>
              <a:t>Thoughts</a:t>
            </a:r>
            <a:r>
              <a:rPr lang="tr-TR" dirty="0"/>
              <a:t> &amp; </a:t>
            </a:r>
            <a:r>
              <a:rPr lang="tr-TR" dirty="0" err="1"/>
              <a:t>Acknowledgments</a:t>
            </a:r>
            <a:endParaRPr lang="tr-TR" dirty="0"/>
          </a:p>
        </p:txBody>
      </p:sp>
      <p:sp>
        <p:nvSpPr>
          <p:cNvPr id="3" name="İçerik Yer Tutucusu 2">
            <a:extLst>
              <a:ext uri="{FF2B5EF4-FFF2-40B4-BE49-F238E27FC236}">
                <a16:creationId xmlns:a16="http://schemas.microsoft.com/office/drawing/2014/main" id="{3E396902-3F82-6E1E-5E76-BB86ED0D2592}"/>
              </a:ext>
            </a:extLst>
          </p:cNvPr>
          <p:cNvSpPr>
            <a:spLocks noGrp="1"/>
          </p:cNvSpPr>
          <p:nvPr>
            <p:ph idx="1"/>
          </p:nvPr>
        </p:nvSpPr>
        <p:spPr/>
        <p:txBody>
          <a:bodyPr/>
          <a:lstStyle/>
          <a:p>
            <a:r>
              <a:rPr lang="en-US" dirty="0"/>
              <a:t>Although this project is not large-scale or highly secure, it holds great personal significance for me and will continue to do so throughout my life. After all, this may be the first cryptographic product I have ever created.</a:t>
            </a:r>
            <a:br>
              <a:rPr lang="tr-TR" dirty="0"/>
            </a:br>
            <a:r>
              <a:rPr lang="en-US" dirty="0"/>
              <a:t>Thank you for taking the time to review my project.</a:t>
            </a:r>
            <a:br>
              <a:rPr lang="tr-TR" dirty="0"/>
            </a:br>
            <a:r>
              <a:rPr lang="en-US" dirty="0"/>
              <a:t>Lastly, I would like to express my gratitude to the </a:t>
            </a:r>
            <a:r>
              <a:rPr lang="tr-TR" dirty="0"/>
              <a:t>«</a:t>
            </a:r>
            <a:r>
              <a:rPr lang="en-US" dirty="0" err="1"/>
              <a:t>CrypTool</a:t>
            </a:r>
            <a:r>
              <a:rPr lang="en-US" dirty="0"/>
              <a:t> 2.</a:t>
            </a:r>
            <a:r>
              <a:rPr lang="tr-TR"/>
              <a:t>1»</a:t>
            </a:r>
            <a:r>
              <a:rPr lang="en-US"/>
              <a:t> </a:t>
            </a:r>
            <a:r>
              <a:rPr lang="en-US" dirty="0"/>
              <a:t>platform for providing a free and open-source workspace, and I truly appreciate their efforts.</a:t>
            </a:r>
            <a:endParaRPr lang="tr-TR" dirty="0"/>
          </a:p>
        </p:txBody>
      </p:sp>
    </p:spTree>
    <p:extLst>
      <p:ext uri="{BB962C8B-B14F-4D97-AF65-F5344CB8AC3E}">
        <p14:creationId xmlns:p14="http://schemas.microsoft.com/office/powerpoint/2010/main" val="10693032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119</TotalTime>
  <Words>503</Words>
  <Application>Microsoft Office PowerPoint</Application>
  <PresentationFormat>Geniş ekran</PresentationFormat>
  <Paragraphs>24</Paragraphs>
  <Slides>10</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10</vt:i4>
      </vt:variant>
    </vt:vector>
  </HeadingPairs>
  <TitlesOfParts>
    <vt:vector size="14" baseType="lpstr">
      <vt:lpstr>Arial</vt:lpstr>
      <vt:lpstr>Bookman Old Style</vt:lpstr>
      <vt:lpstr>Rockwell</vt:lpstr>
      <vt:lpstr>Damask</vt:lpstr>
      <vt:lpstr>STEND CIPHER</vt:lpstr>
      <vt:lpstr>1) Introduction</vt:lpstr>
      <vt:lpstr>2) Algorithm Overview</vt:lpstr>
      <vt:lpstr>3) The Encryption</vt:lpstr>
      <vt:lpstr>Xavi Substitution Table:</vt:lpstr>
      <vt:lpstr>Key Mixing:</vt:lpstr>
      <vt:lpstr>The Appearness of Encryption:</vt:lpstr>
      <vt:lpstr>4) The Decryption</vt:lpstr>
      <vt:lpstr>PowerPoint Sunusu</vt:lpstr>
      <vt:lpstr>Final Thoughts &amp; Acknowledgments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dillo</dc:creator>
  <cp:lastModifiedBy>ahmed dillo</cp:lastModifiedBy>
  <cp:revision>2</cp:revision>
  <dcterms:created xsi:type="dcterms:W3CDTF">2025-02-28T06:45:36Z</dcterms:created>
  <dcterms:modified xsi:type="dcterms:W3CDTF">2025-02-28T09:15:36Z</dcterms:modified>
</cp:coreProperties>
</file>